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Customer Communicator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64C8FF"/>
                </a:solidFill>
              </a:defRPr>
            </a:pPr>
            <a:r>
              <a:t>Intelligent Complaint Resolution Communication System</a:t>
            </a:r>
            <a:br/>
            <a:r>
              <a:t>Automated Message Generation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An intelligent AI agent designed to automate customer communication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Part of the Order-to-Cash (O2C) Complaint Resolution System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Generates personalized, compliant, and empathetic messages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Bridges gap between resolution planning and customer communication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Ensures consistency, compliance, and quality in interactions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2. Agent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Purpose: Generate personalized resolution messages for complaints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Key Capabilities: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Processes customer profiles, resolution plans, credit confirmations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Creates context-aware, empathetic communication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Validates GDPR and brand compliance automatically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Selects optimal dispatch channels (Email, SMS, Portal)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Maintains audit logs for regulatory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3. 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Programming Language: Python 3.x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Agentic Framework: AutoGen (Multi-Agent Orchestration)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AI/LLM: OpenAI GPT-4 (Natural Language Generation)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API Framework: Flask (REST API wrapper)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Key Libraries: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autogen &gt;= 0.2.0 (Multi-agent orchestration)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openai &gt;= 1.0.0 (LLM integration)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python-dotenv (Configuration management)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5.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011680" cy="640080"/>
          </a:xfrm>
          <a:prstGeom prst="roundRect">
            <a:avLst/>
          </a:prstGeom>
          <a:solidFill>
            <a:srgbClr val="0078B4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Resolution</a:t>
            </a:r>
            <a:br/>
            <a:r>
              <a:t>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88720"/>
            <a:ext cx="2011680" cy="640080"/>
          </a:xfrm>
          <a:prstGeom prst="roundRect">
            <a:avLst/>
          </a:prstGeom>
          <a:solidFill>
            <a:srgbClr val="0078B4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Credit</a:t>
            </a:r>
            <a:br/>
            <a:r>
              <a:t>Confirmation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188720"/>
            <a:ext cx="2011680" cy="640080"/>
          </a:xfrm>
          <a:prstGeom prst="roundRect">
            <a:avLst/>
          </a:prstGeom>
          <a:solidFill>
            <a:srgbClr val="0078B4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Customer</a:t>
            </a:r>
            <a:br/>
            <a:r>
              <a:t>Profile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920240"/>
            <a:ext cx="0" cy="274320"/>
          </a:xfrm>
          <a:prstGeom prst="line">
            <a:avLst/>
          </a:prstGeom>
          <a:ln w="254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97280" y="2377440"/>
            <a:ext cx="1645920" cy="548640"/>
          </a:xfrm>
          <a:prstGeom prst="roundRect">
            <a:avLst/>
          </a:prstGeom>
          <a:solidFill>
            <a:srgbClr val="64B4DC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377440"/>
            <a:ext cx="1645920" cy="548640"/>
          </a:xfrm>
          <a:prstGeom prst="roundRect">
            <a:avLst/>
          </a:prstGeom>
          <a:solidFill>
            <a:srgbClr val="64B4DC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Context</a:t>
            </a:r>
            <a:br/>
            <a:r>
              <a:t>Building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377440"/>
            <a:ext cx="1645920" cy="548640"/>
          </a:xfrm>
          <a:prstGeom prst="roundRect">
            <a:avLst/>
          </a:prstGeom>
          <a:solidFill>
            <a:srgbClr val="64B4DC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Template</a:t>
            </a:r>
            <a:br/>
            <a:r>
              <a:t>Selection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017520"/>
            <a:ext cx="0" cy="274320"/>
          </a:xfrm>
          <a:prstGeom prst="line">
            <a:avLst/>
          </a:prstGeom>
          <a:ln w="254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3474720"/>
            <a:ext cx="4572000" cy="731520"/>
          </a:xfrm>
          <a:prstGeom prst="roundRect">
            <a:avLst/>
          </a:prstGeom>
          <a:solidFill>
            <a:srgbClr val="0096C8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Message Generation (LLM) â†’ Compliance 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4297680"/>
            <a:ext cx="0" cy="274320"/>
          </a:xfrm>
          <a:prstGeom prst="line">
            <a:avLst/>
          </a:prstGeom>
          <a:ln w="254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4754880"/>
            <a:ext cx="3657600" cy="731520"/>
          </a:xfrm>
          <a:prstGeom prst="roundRect">
            <a:avLst/>
          </a:prstGeom>
          <a:solidFill>
            <a:srgbClr val="009664"/>
          </a:solidFill>
          <a:ln w="254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Personalized Resolution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6. Architecture - Component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Multi-Agent Architecture using AutoGen: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1. Message Generator Agent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Generates personalized message content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Uses customer context and resolution details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2. Compliance Validator Agent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Validates GDPR compliance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Checks brand tone alignment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3. Main Orchestrator (CustomerCommunicatorAgent)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Coordinates between agents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Manages data flow and template rendering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7. Code Base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Core Implementation: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customer_communicator_agent.py (350+ lines)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config.py (100+ lines)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flask_api.py (260+ lines)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Testing &amp; Examples: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test_agent.py (300+ lines)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advanced_usage.py (250+ lines)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Data Sources: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communication_templates.json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Sample input/output JSON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8. Data Flow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Step 1: Input Collection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Customer profile (Name, Email, Phone, Organization)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Resolution plan (Actions, Timeline, Cost)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Credit confirmation (Amount, Approval, Conditions)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Step 2: Processing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Extract recipient information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Build message context with template variables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Generate personalized message using AI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- Step 3: Validation &amp; Output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Validate compliance (GDPR, Brand tone)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Format final message with metadata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9. Key Features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Multi-agent orchestration with AutoGen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GPT-4 powered natural language generation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Template-based message rendering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GDPR and brand compliance validation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Multi-channel support (Email, SMS, Portal)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Comprehensive error handling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RESTful API with 5 endpoints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Batch message generation capability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Audit logging and tracking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Complete documentation and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10.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Core agent functionality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AutoGen multi-agent integration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Message generation with GPT-4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Compliance validation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REST API wrapper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Comprehensive documentation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Testing suite (100%)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Status: Production-Ready [OK]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Version: 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11. Conclusion - Current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Fully functional AI-powered customer communication agent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Production-ready with comprehensive testing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Complete documentation and API integration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Automated, personalized message generation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Multi-agent orchestration using AutoGen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Compliance validation and multi-channel support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REST API with batch processing capability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[OK] Audit logging and compliance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12. Future Improvements - Short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1. Multi-language Support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Regional language support (Hindi, Regional)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Automatic language detection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2. Advanced Personalization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Customer sentiment analysis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Communication history tracking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  <a:r>
              <a:t>3. Enhanced Analytics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Message effectiveness metrics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Customer satisfaction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13. Future Improvements - Long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669280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4. AI/ML Enhancements: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Fine-tuned models for specific industries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Reinforcement learning from customer feedback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5. Scalability &amp; Performance: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Asynchronous message processing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Distributed agent architecture</a:t>
            </a:r>
          </a:p>
          <a:p>
            <a:pPr>
              <a:defRPr sz="1600">
                <a:solidFill>
                  <a:srgbClr val="1E1E1E"/>
                </a:solidFill>
                <a:latin typeface="Calibri"/>
              </a:defRPr>
            </a:pPr>
          </a:p>
          <a:p>
            <a:pPr>
              <a:defRPr b="1" sz="1800">
                <a:solidFill>
                  <a:srgbClr val="1E1E1E"/>
                </a:solidFill>
                <a:latin typeface="Calibri"/>
              </a:defRPr>
            </a:pPr>
            <a:r>
              <a:t>6. Security &amp; Integration: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Enhanced PII protection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Direct CRM integration</a:t>
            </a:r>
          </a:p>
          <a:p>
            <a:pPr lvl="1">
              <a:defRPr sz="1600">
                <a:solidFill>
                  <a:srgbClr val="1E1E1E"/>
                </a:solidFill>
                <a:latin typeface="Calibri"/>
              </a:defRPr>
            </a:pPr>
            <a:r>
              <a:t>  - Email/SMS gateway connections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96C8"/>
                </a:solidFill>
              </a:defRPr>
            </a:pPr>
            <a:r>
              <a:t>Thank You!</a:t>
            </a:r>
            <a:br/>
            <a:br/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C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